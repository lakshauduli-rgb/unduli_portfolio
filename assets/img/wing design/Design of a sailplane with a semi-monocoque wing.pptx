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1" r:id="rId23"/>
    <p:sldId id="277" r:id="rId24"/>
    <p:sldId id="278" r:id="rId25"/>
    <p:sldId id="279" r:id="rId26"/>
    <p:sldId id="280" r:id="rId27"/>
    <p:sldId id="282" r:id="rId28"/>
  </p:sldIdLst>
  <p:sldSz cx="18288000" cy="10287000"/>
  <p:notesSz cx="6858000" cy="9144000"/>
  <p:embeddedFontLst>
    <p:embeddedFont>
      <p:font typeface="Canva Sans" panose="020B0604020202020204" charset="0"/>
      <p:regular r:id="rId29"/>
    </p:embeddedFont>
    <p:embeddedFont>
      <p:font typeface="Times New Roman Bold" panose="02020803070505020304" pitchFamily="18" charset="0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5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12" Type="http://schemas.openxmlformats.org/officeDocument/2006/relationships/image" Target="../media/image14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11" Type="http://schemas.openxmlformats.org/officeDocument/2006/relationships/image" Target="../media/image13.jpeg"/><Relationship Id="rId5" Type="http://schemas.openxmlformats.org/officeDocument/2006/relationships/image" Target="../media/image7.jpeg"/><Relationship Id="rId10" Type="http://schemas.openxmlformats.org/officeDocument/2006/relationships/image" Target="../media/image12.jpeg"/><Relationship Id="rId4" Type="http://schemas.openxmlformats.org/officeDocument/2006/relationships/image" Target="../media/image6.jpe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79946" y="4231742"/>
            <a:ext cx="5328107" cy="4014186"/>
          </a:xfrm>
          <a:custGeom>
            <a:avLst/>
            <a:gdLst/>
            <a:ahLst/>
            <a:cxnLst/>
            <a:rect l="l" t="t" r="r" b="b"/>
            <a:pathLst>
              <a:path w="5328107" h="4014186">
                <a:moveTo>
                  <a:pt x="0" y="0"/>
                </a:moveTo>
                <a:lnTo>
                  <a:pt x="5328108" y="0"/>
                </a:lnTo>
                <a:lnTo>
                  <a:pt x="5328108" y="4014185"/>
                </a:lnTo>
                <a:lnTo>
                  <a:pt x="0" y="4014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547812" y="1314750"/>
            <a:ext cx="15192375" cy="99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of a sailplane with a semi-monocoque wing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0219" y="2926634"/>
            <a:ext cx="8247562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I. Aerodynamics and stability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03783" y="8615680"/>
            <a:ext cx="6765342" cy="119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Senadheera H.W.M.L.U.C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230593A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1714" y="1037611"/>
            <a:ext cx="9183886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 and constraints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2523595"/>
            <a:ext cx="12848076" cy="5064082"/>
            <a:chOff x="0" y="0"/>
            <a:chExt cx="17130768" cy="6752109"/>
          </a:xfrm>
        </p:grpSpPr>
        <p:sp>
          <p:nvSpPr>
            <p:cNvPr id="4" name="TextBox 4"/>
            <p:cNvSpPr txBox="1"/>
            <p:nvPr/>
          </p:nvSpPr>
          <p:spPr>
            <a:xfrm>
              <a:off x="0" y="2056343"/>
              <a:ext cx="10618966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6780" lvl="1" indent="-453390" algn="l">
                <a:lnSpc>
                  <a:spcPts val="5879"/>
                </a:lnSpc>
                <a:buFont typeface="Arial"/>
                <a:buChar char="•"/>
              </a:pPr>
              <a:r>
                <a:rPr lang="en-US" sz="41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Wingspan (b) : 12m - 18m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932421"/>
              <a:ext cx="16810279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6780" lvl="1" indent="-453390" algn="l">
                <a:lnSpc>
                  <a:spcPts val="5880"/>
                </a:lnSpc>
                <a:buFont typeface="Arial"/>
                <a:buChar char="•"/>
              </a:pPr>
              <a:r>
                <a:rPr lang="en-US" sz="4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Fuselage length : 45-55% of the wingspan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5808499"/>
              <a:ext cx="17130768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6780" lvl="1" indent="-453390" algn="l">
                <a:lnSpc>
                  <a:spcPts val="5879"/>
                </a:lnSpc>
                <a:buFont typeface="Arial"/>
                <a:buChar char="•"/>
              </a:pPr>
              <a:r>
                <a:rPr lang="en-US" sz="41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Mass of complete aircraft : 250kg - 300kg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17130768" cy="943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06780" lvl="1" indent="-453390" algn="l">
                <a:lnSpc>
                  <a:spcPts val="5879"/>
                </a:lnSpc>
                <a:buFont typeface="Arial"/>
                <a:buChar char="•"/>
              </a:pPr>
              <a:r>
                <a:rPr lang="en-US" sz="41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Maximize the range of the aircraft.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2433" y="652681"/>
            <a:ext cx="4948880" cy="4352961"/>
            <a:chOff x="0" y="0"/>
            <a:chExt cx="92407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4072" cy="812800"/>
            </a:xfrm>
            <a:custGeom>
              <a:avLst/>
              <a:gdLst/>
              <a:ahLst/>
              <a:cxnLst/>
              <a:rect l="l" t="t" r="r" b="b"/>
              <a:pathLst>
                <a:path w="924072" h="812800">
                  <a:moveTo>
                    <a:pt x="0" y="0"/>
                  </a:moveTo>
                  <a:lnTo>
                    <a:pt x="924072" y="0"/>
                  </a:lnTo>
                  <a:lnTo>
                    <a:pt x="92407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43" r="-243"/>
              </a:stretch>
            </a:blipFill>
            <a:ln w="38100" cap="sq">
              <a:solidFill>
                <a:srgbClr val="69ADE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842433" y="5143500"/>
            <a:ext cx="7251576" cy="3903958"/>
            <a:chOff x="0" y="0"/>
            <a:chExt cx="1509771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09771" cy="812800"/>
            </a:xfrm>
            <a:custGeom>
              <a:avLst/>
              <a:gdLst/>
              <a:ahLst/>
              <a:cxnLst/>
              <a:rect l="l" t="t" r="r" b="b"/>
              <a:pathLst>
                <a:path w="1509771" h="812800">
                  <a:moveTo>
                    <a:pt x="0" y="0"/>
                  </a:moveTo>
                  <a:lnTo>
                    <a:pt x="1509771" y="0"/>
                  </a:lnTo>
                  <a:lnTo>
                    <a:pt x="150977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468" b="-468"/>
              </a:stretch>
            </a:blipFill>
            <a:ln w="38100" cap="sq">
              <a:solidFill>
                <a:srgbClr val="69ADE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33450"/>
            <a:ext cx="8813733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Determining the initial parameters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40259"/>
            <a:ext cx="8251847" cy="2274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 = 24</a:t>
            </a:r>
          </a:p>
          <a:p>
            <a:pPr algn="l">
              <a:lnSpc>
                <a:spcPts val="6119"/>
              </a:lnSpc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Span = 15m</a:t>
            </a:r>
          </a:p>
          <a:p>
            <a:pPr algn="l">
              <a:lnSpc>
                <a:spcPts val="611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872246"/>
            <a:ext cx="8251847" cy="599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Calculated paramters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4871736"/>
            <a:ext cx="9806469" cy="536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Area (S) = 9.375 m^2</a:t>
            </a:r>
          </a:p>
          <a:p>
            <a:pPr algn="l">
              <a:lnSpc>
                <a:spcPts val="611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 chord ( c ) = 0.625 m</a:t>
            </a:r>
          </a:p>
          <a:p>
            <a:pPr algn="l">
              <a:lnSpc>
                <a:spcPts val="611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Loading = 29.333 kg/m^2</a:t>
            </a:r>
          </a:p>
          <a:p>
            <a:pPr algn="l">
              <a:lnSpc>
                <a:spcPts val="611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Weight = 275.000 kg (2697.75 N)</a:t>
            </a:r>
          </a:p>
          <a:p>
            <a:pPr algn="l">
              <a:lnSpc>
                <a:spcPts val="6119"/>
              </a:lnSpc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Cruise speed = 22.183 m/s (79.86 km/h)</a:t>
            </a:r>
          </a:p>
          <a:p>
            <a:pPr algn="l">
              <a:lnSpc>
                <a:spcPts val="611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611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198" y="749138"/>
            <a:ext cx="4549674" cy="1278496"/>
            <a:chOff x="0" y="0"/>
            <a:chExt cx="3121036" cy="8770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2"/>
              <a:stretch>
                <a:fillRect l="-518" r="-51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1" y="2620374"/>
            <a:ext cx="2857500" cy="7316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E603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FX66S196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FX67K170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FX73K170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FX60126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FX61184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FXS02196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GOE533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GOE549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NACA23012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NACA636318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28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0524668" y="647046"/>
            <a:ext cx="4549674" cy="1278496"/>
            <a:chOff x="0" y="0"/>
            <a:chExt cx="3121036" cy="8770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3"/>
              <a:stretch>
                <a:fillRect l="-1561" r="-15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444379" y="6425625"/>
            <a:ext cx="5772830" cy="1278496"/>
            <a:chOff x="0" y="0"/>
            <a:chExt cx="3960111" cy="877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960111" cy="877037"/>
            </a:xfrm>
            <a:custGeom>
              <a:avLst/>
              <a:gdLst/>
              <a:ahLst/>
              <a:cxnLst/>
              <a:rect l="l" t="t" r="r" b="b"/>
              <a:pathLst>
                <a:path w="3960111" h="877037">
                  <a:moveTo>
                    <a:pt x="0" y="0"/>
                  </a:moveTo>
                  <a:lnTo>
                    <a:pt x="3960111" y="0"/>
                  </a:lnTo>
                  <a:lnTo>
                    <a:pt x="3960111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4"/>
              <a:stretch>
                <a:fillRect l="-49" r="-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598151" y="6425625"/>
            <a:ext cx="5109423" cy="1278496"/>
            <a:chOff x="0" y="0"/>
            <a:chExt cx="3505019" cy="877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05019" cy="877037"/>
            </a:xfrm>
            <a:custGeom>
              <a:avLst/>
              <a:gdLst/>
              <a:ahLst/>
              <a:cxnLst/>
              <a:rect l="l" t="t" r="r" b="b"/>
              <a:pathLst>
                <a:path w="3505019" h="877037">
                  <a:moveTo>
                    <a:pt x="0" y="0"/>
                  </a:moveTo>
                  <a:lnTo>
                    <a:pt x="3505019" y="0"/>
                  </a:lnTo>
                  <a:lnTo>
                    <a:pt x="3505019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5"/>
              <a:stretch>
                <a:fillRect t="-1953" b="-19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84810" y="2620374"/>
            <a:ext cx="4549674" cy="1278496"/>
            <a:chOff x="0" y="0"/>
            <a:chExt cx="3121036" cy="8770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6"/>
              <a:stretch>
                <a:fillRect l="-1561" r="-15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410759" y="2620374"/>
            <a:ext cx="4839914" cy="1278496"/>
            <a:chOff x="0" y="0"/>
            <a:chExt cx="3320139" cy="8770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320138" cy="877037"/>
            </a:xfrm>
            <a:custGeom>
              <a:avLst/>
              <a:gdLst/>
              <a:ahLst/>
              <a:cxnLst/>
              <a:rect l="l" t="t" r="r" b="b"/>
              <a:pathLst>
                <a:path w="3320138" h="877037">
                  <a:moveTo>
                    <a:pt x="0" y="0"/>
                  </a:moveTo>
                  <a:lnTo>
                    <a:pt x="3320138" y="0"/>
                  </a:lnTo>
                  <a:lnTo>
                    <a:pt x="3320138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7"/>
              <a:stretch>
                <a:fillRect l="-556" r="-5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42505" y="4556579"/>
            <a:ext cx="4549674" cy="1278496"/>
            <a:chOff x="0" y="0"/>
            <a:chExt cx="3121036" cy="87703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8"/>
              <a:stretch>
                <a:fillRect t="-710" b="-7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96069" y="8842493"/>
            <a:ext cx="5593607" cy="1278496"/>
            <a:chOff x="0" y="0"/>
            <a:chExt cx="3837165" cy="8770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837165" cy="877037"/>
            </a:xfrm>
            <a:custGeom>
              <a:avLst/>
              <a:gdLst/>
              <a:ahLst/>
              <a:cxnLst/>
              <a:rect l="l" t="t" r="r" b="b"/>
              <a:pathLst>
                <a:path w="3837165" h="877037">
                  <a:moveTo>
                    <a:pt x="0" y="0"/>
                  </a:moveTo>
                  <a:lnTo>
                    <a:pt x="3837165" y="0"/>
                  </a:lnTo>
                  <a:lnTo>
                    <a:pt x="3837165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9"/>
              <a:stretch>
                <a:fillRect t="-450" b="-4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33551" y="8842493"/>
            <a:ext cx="5926999" cy="1278496"/>
            <a:chOff x="0" y="0"/>
            <a:chExt cx="4065869" cy="87703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5869" cy="877037"/>
            </a:xfrm>
            <a:custGeom>
              <a:avLst/>
              <a:gdLst/>
              <a:ahLst/>
              <a:cxnLst/>
              <a:rect l="l" t="t" r="r" b="b"/>
              <a:pathLst>
                <a:path w="4065869" h="877037">
                  <a:moveTo>
                    <a:pt x="0" y="0"/>
                  </a:moveTo>
                  <a:lnTo>
                    <a:pt x="4065869" y="0"/>
                  </a:lnTo>
                  <a:lnTo>
                    <a:pt x="4065869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10"/>
              <a:stretch>
                <a:fillRect l="-605" r="-60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204000" y="8842493"/>
            <a:ext cx="4711599" cy="1278496"/>
            <a:chOff x="0" y="0"/>
            <a:chExt cx="3232115" cy="87703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232115" cy="877037"/>
            </a:xfrm>
            <a:custGeom>
              <a:avLst/>
              <a:gdLst/>
              <a:ahLst/>
              <a:cxnLst/>
              <a:rect l="l" t="t" r="r" b="b"/>
              <a:pathLst>
                <a:path w="3232115" h="877037">
                  <a:moveTo>
                    <a:pt x="0" y="0"/>
                  </a:moveTo>
                  <a:lnTo>
                    <a:pt x="3232115" y="0"/>
                  </a:lnTo>
                  <a:lnTo>
                    <a:pt x="3232115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11"/>
              <a:stretch>
                <a:fillRect l="-366" r="-3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410759" y="4523288"/>
            <a:ext cx="4549674" cy="1278496"/>
            <a:chOff x="0" y="0"/>
            <a:chExt cx="3121036" cy="87703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12"/>
              <a:stretch>
                <a:fillRect t="-710" b="-7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842070" y="933450"/>
            <a:ext cx="4110930" cy="1450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Airfoil Selection for Wing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766" y="0"/>
            <a:ext cx="15690468" cy="10287000"/>
            <a:chOff x="0" y="0"/>
            <a:chExt cx="123974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741" cy="812800"/>
            </a:xfrm>
            <a:custGeom>
              <a:avLst/>
              <a:gdLst/>
              <a:ahLst/>
              <a:cxnLst/>
              <a:rect l="l" t="t" r="r" b="b"/>
              <a:pathLst>
                <a:path w="1239741" h="812800">
                  <a:moveTo>
                    <a:pt x="0" y="0"/>
                  </a:moveTo>
                  <a:lnTo>
                    <a:pt x="1239741" y="0"/>
                  </a:lnTo>
                  <a:lnTo>
                    <a:pt x="123974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878" b="-8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766" y="0"/>
            <a:ext cx="15690468" cy="10287000"/>
            <a:chOff x="0" y="0"/>
            <a:chExt cx="123974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741" cy="812800"/>
            </a:xfrm>
            <a:custGeom>
              <a:avLst/>
              <a:gdLst/>
              <a:ahLst/>
              <a:cxnLst/>
              <a:rect l="l" t="t" r="r" b="b"/>
              <a:pathLst>
                <a:path w="1239741" h="812800">
                  <a:moveTo>
                    <a:pt x="0" y="0"/>
                  </a:moveTo>
                  <a:lnTo>
                    <a:pt x="1239741" y="0"/>
                  </a:lnTo>
                  <a:lnTo>
                    <a:pt x="123974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878" b="-8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8766" y="0"/>
            <a:ext cx="15690468" cy="10287000"/>
            <a:chOff x="0" y="0"/>
            <a:chExt cx="123974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9741" cy="812800"/>
            </a:xfrm>
            <a:custGeom>
              <a:avLst/>
              <a:gdLst/>
              <a:ahLst/>
              <a:cxnLst/>
              <a:rect l="l" t="t" r="r" b="b"/>
              <a:pathLst>
                <a:path w="1239741" h="812800">
                  <a:moveTo>
                    <a:pt x="0" y="0"/>
                  </a:moveTo>
                  <a:lnTo>
                    <a:pt x="1239741" y="0"/>
                  </a:lnTo>
                  <a:lnTo>
                    <a:pt x="123974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878" b="-87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4247126540"/>
              </p:ext>
            </p:extLst>
          </p:nvPr>
        </p:nvGraphicFramePr>
        <p:xfrm>
          <a:off x="415925" y="427038"/>
          <a:ext cx="14544675" cy="991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635846" imgH="7475291" progId="Excel.Sheet.12">
                  <p:embed/>
                </p:oleObj>
              </mc:Choice>
              <mc:Fallback>
                <p:oleObj name="Worksheet" r:id="rId2" imgW="11635846" imgH="747529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5925" y="427038"/>
                        <a:ext cx="14544675" cy="991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94856"/>
            <a:ext cx="2677120" cy="479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FX67K170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FX73K170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FX60126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FX61184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GOE533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185858" y="8106600"/>
            <a:ext cx="6331063" cy="1402127"/>
            <a:chOff x="0" y="0"/>
            <a:chExt cx="3960111" cy="8770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960111" cy="877037"/>
            </a:xfrm>
            <a:custGeom>
              <a:avLst/>
              <a:gdLst/>
              <a:ahLst/>
              <a:cxnLst/>
              <a:rect l="l" t="t" r="r" b="b"/>
              <a:pathLst>
                <a:path w="3960111" h="877037">
                  <a:moveTo>
                    <a:pt x="0" y="0"/>
                  </a:moveTo>
                  <a:lnTo>
                    <a:pt x="3960111" y="0"/>
                  </a:lnTo>
                  <a:lnTo>
                    <a:pt x="3960111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2"/>
              <a:stretch>
                <a:fillRect l="-49" r="-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85858" y="4402649"/>
            <a:ext cx="5593607" cy="1399650"/>
            <a:chOff x="0" y="0"/>
            <a:chExt cx="3505019" cy="8770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05019" cy="877037"/>
            </a:xfrm>
            <a:custGeom>
              <a:avLst/>
              <a:gdLst/>
              <a:ahLst/>
              <a:cxnLst/>
              <a:rect l="l" t="t" r="r" b="b"/>
              <a:pathLst>
                <a:path w="3505019" h="877037">
                  <a:moveTo>
                    <a:pt x="0" y="0"/>
                  </a:moveTo>
                  <a:lnTo>
                    <a:pt x="3505019" y="0"/>
                  </a:lnTo>
                  <a:lnTo>
                    <a:pt x="3505019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3"/>
              <a:stretch>
                <a:fillRect t="-1953" b="-195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85858" y="701578"/>
            <a:ext cx="5421779" cy="1523565"/>
            <a:chOff x="0" y="0"/>
            <a:chExt cx="3121036" cy="87703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21036" cy="877037"/>
            </a:xfrm>
            <a:custGeom>
              <a:avLst/>
              <a:gdLst/>
              <a:ahLst/>
              <a:cxnLst/>
              <a:rect l="l" t="t" r="r" b="b"/>
              <a:pathLst>
                <a:path w="3121036" h="877037">
                  <a:moveTo>
                    <a:pt x="0" y="0"/>
                  </a:moveTo>
                  <a:lnTo>
                    <a:pt x="3121036" y="0"/>
                  </a:lnTo>
                  <a:lnTo>
                    <a:pt x="3121036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4"/>
              <a:stretch>
                <a:fillRect l="-1561" r="-156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185858" y="2650029"/>
            <a:ext cx="5421779" cy="1432199"/>
            <a:chOff x="0" y="0"/>
            <a:chExt cx="3320139" cy="87703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20138" cy="877037"/>
            </a:xfrm>
            <a:custGeom>
              <a:avLst/>
              <a:gdLst/>
              <a:ahLst/>
              <a:cxnLst/>
              <a:rect l="l" t="t" r="r" b="b"/>
              <a:pathLst>
                <a:path w="3320138" h="877037">
                  <a:moveTo>
                    <a:pt x="0" y="0"/>
                  </a:moveTo>
                  <a:lnTo>
                    <a:pt x="3320138" y="0"/>
                  </a:lnTo>
                  <a:lnTo>
                    <a:pt x="3320138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5"/>
              <a:stretch>
                <a:fillRect l="-556" r="-55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85858" y="6230923"/>
            <a:ext cx="6331063" cy="1447052"/>
            <a:chOff x="0" y="0"/>
            <a:chExt cx="3837165" cy="8770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37165" cy="877037"/>
            </a:xfrm>
            <a:custGeom>
              <a:avLst/>
              <a:gdLst/>
              <a:ahLst/>
              <a:cxnLst/>
              <a:rect l="l" t="t" r="r" b="b"/>
              <a:pathLst>
                <a:path w="3837165" h="877037">
                  <a:moveTo>
                    <a:pt x="0" y="0"/>
                  </a:moveTo>
                  <a:lnTo>
                    <a:pt x="3837165" y="0"/>
                  </a:lnTo>
                  <a:lnTo>
                    <a:pt x="3837165" y="877037"/>
                  </a:lnTo>
                  <a:lnTo>
                    <a:pt x="0" y="877037"/>
                  </a:lnTo>
                  <a:close/>
                </a:path>
              </a:pathLst>
            </a:custGeom>
            <a:blipFill>
              <a:blip r:embed="rId6"/>
              <a:stretch>
                <a:fillRect t="-450" b="-45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87287" y="933450"/>
            <a:ext cx="7243506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Airfoils Selected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482876295"/>
              </p:ext>
            </p:extLst>
          </p:nvPr>
        </p:nvGraphicFramePr>
        <p:xfrm>
          <a:off x="2057400" y="2324100"/>
          <a:ext cx="13868400" cy="702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540382" imgH="6347452" progId="Excel.Sheet.12">
                  <p:embed/>
                </p:oleObj>
              </mc:Choice>
              <mc:Fallback>
                <p:oleObj name="Worksheet" r:id="rId2" imgW="9540382" imgH="634745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7400" y="2324100"/>
                        <a:ext cx="13868400" cy="7029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1028700" y="933450"/>
            <a:ext cx="3658791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Matrix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41" y="121093"/>
            <a:ext cx="18648521" cy="10287000"/>
            <a:chOff x="0" y="0"/>
            <a:chExt cx="24864695" cy="137160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9164756" cy="13716000"/>
              <a:chOff x="0" y="0"/>
              <a:chExt cx="1135689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135689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1135689" h="812800">
                    <a:moveTo>
                      <a:pt x="0" y="0"/>
                    </a:moveTo>
                    <a:lnTo>
                      <a:pt x="1135689" y="0"/>
                    </a:lnTo>
                    <a:lnTo>
                      <a:pt x="1135689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662" r="-662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5"/>
            <p:cNvSpPr/>
            <p:nvPr/>
          </p:nvSpPr>
          <p:spPr>
            <a:xfrm>
              <a:off x="10482280" y="6858000"/>
              <a:ext cx="14382415" cy="3378867"/>
            </a:xfrm>
            <a:custGeom>
              <a:avLst/>
              <a:gdLst/>
              <a:ahLst/>
              <a:cxnLst/>
              <a:rect l="l" t="t" r="r" b="b"/>
              <a:pathLst>
                <a:path w="14382415" h="3378867">
                  <a:moveTo>
                    <a:pt x="0" y="0"/>
                  </a:moveTo>
                  <a:lnTo>
                    <a:pt x="14382415" y="0"/>
                  </a:lnTo>
                  <a:lnTo>
                    <a:pt x="14382415" y="3378867"/>
                  </a:lnTo>
                  <a:lnTo>
                    <a:pt x="0" y="337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950" y="1159624"/>
            <a:ext cx="8887050" cy="6974272"/>
            <a:chOff x="0" y="0"/>
            <a:chExt cx="103572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720" cy="812800"/>
            </a:xfrm>
            <a:custGeom>
              <a:avLst/>
              <a:gdLst/>
              <a:ahLst/>
              <a:cxnLst/>
              <a:rect l="l" t="t" r="r" b="b"/>
              <a:pathLst>
                <a:path w="1035720" h="812800">
                  <a:moveTo>
                    <a:pt x="0" y="0"/>
                  </a:moveTo>
                  <a:lnTo>
                    <a:pt x="1035720" y="0"/>
                  </a:lnTo>
                  <a:lnTo>
                    <a:pt x="10357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337" r="-233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0" y="1159624"/>
            <a:ext cx="8887050" cy="6974272"/>
            <a:chOff x="0" y="0"/>
            <a:chExt cx="103572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5720" cy="812800"/>
            </a:xfrm>
            <a:custGeom>
              <a:avLst/>
              <a:gdLst/>
              <a:ahLst/>
              <a:cxnLst/>
              <a:rect l="l" t="t" r="r" b="b"/>
              <a:pathLst>
                <a:path w="1035720" h="812800">
                  <a:moveTo>
                    <a:pt x="0" y="0"/>
                  </a:moveTo>
                  <a:lnTo>
                    <a:pt x="1035720" y="0"/>
                  </a:lnTo>
                  <a:lnTo>
                    <a:pt x="10357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337" r="-233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6950" y="1159624"/>
            <a:ext cx="8887050" cy="6974272"/>
            <a:chOff x="0" y="0"/>
            <a:chExt cx="103572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720" cy="812800"/>
            </a:xfrm>
            <a:custGeom>
              <a:avLst/>
              <a:gdLst/>
              <a:ahLst/>
              <a:cxnLst/>
              <a:rect l="l" t="t" r="r" b="b"/>
              <a:pathLst>
                <a:path w="1035720" h="812800">
                  <a:moveTo>
                    <a:pt x="0" y="0"/>
                  </a:moveTo>
                  <a:lnTo>
                    <a:pt x="1035720" y="0"/>
                  </a:lnTo>
                  <a:lnTo>
                    <a:pt x="10357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337" r="-233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0" y="1159624"/>
            <a:ext cx="8887050" cy="6974272"/>
            <a:chOff x="0" y="0"/>
            <a:chExt cx="103572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35720" cy="812800"/>
            </a:xfrm>
            <a:custGeom>
              <a:avLst/>
              <a:gdLst/>
              <a:ahLst/>
              <a:cxnLst/>
              <a:rect l="l" t="t" r="r" b="b"/>
              <a:pathLst>
                <a:path w="1035720" h="812800">
                  <a:moveTo>
                    <a:pt x="0" y="0"/>
                  </a:moveTo>
                  <a:lnTo>
                    <a:pt x="1035720" y="0"/>
                  </a:lnTo>
                  <a:lnTo>
                    <a:pt x="103572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2337" r="-2337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341467"/>
            <a:ext cx="3496604" cy="4450735"/>
            <a:chOff x="0" y="0"/>
            <a:chExt cx="4662138" cy="5934313"/>
          </a:xfrm>
        </p:grpSpPr>
        <p:sp>
          <p:nvSpPr>
            <p:cNvPr id="3" name="Freeform 3"/>
            <p:cNvSpPr/>
            <p:nvPr/>
          </p:nvSpPr>
          <p:spPr>
            <a:xfrm>
              <a:off x="0" y="521581"/>
              <a:ext cx="4662138" cy="5412732"/>
            </a:xfrm>
            <a:custGeom>
              <a:avLst/>
              <a:gdLst/>
              <a:ahLst/>
              <a:cxnLst/>
              <a:rect l="l" t="t" r="r" b="b"/>
              <a:pathLst>
                <a:path w="4662138" h="5412732">
                  <a:moveTo>
                    <a:pt x="0" y="0"/>
                  </a:moveTo>
                  <a:lnTo>
                    <a:pt x="4662138" y="0"/>
                  </a:lnTo>
                  <a:lnTo>
                    <a:pt x="4662138" y="5412732"/>
                  </a:lnTo>
                  <a:lnTo>
                    <a:pt x="0" y="5412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389520" cy="588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38"/>
                </a:lnSpc>
                <a:spcBef>
                  <a:spcPct val="0"/>
                </a:spcBef>
              </a:pPr>
              <a:r>
                <a:rPr lang="en-US" sz="2598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Recuired CL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114460" y="3178001"/>
            <a:ext cx="4086682" cy="1388833"/>
          </a:xfrm>
          <a:custGeom>
            <a:avLst/>
            <a:gdLst/>
            <a:ahLst/>
            <a:cxnLst/>
            <a:rect l="l" t="t" r="r" b="b"/>
            <a:pathLst>
              <a:path w="4086682" h="1388833">
                <a:moveTo>
                  <a:pt x="0" y="0"/>
                </a:moveTo>
                <a:lnTo>
                  <a:pt x="4086682" y="0"/>
                </a:lnTo>
                <a:lnTo>
                  <a:pt x="4086682" y="1388833"/>
                </a:lnTo>
                <a:lnTo>
                  <a:pt x="0" y="1388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14460" y="5586245"/>
            <a:ext cx="3242377" cy="3340235"/>
          </a:xfrm>
          <a:custGeom>
            <a:avLst/>
            <a:gdLst/>
            <a:ahLst/>
            <a:cxnLst/>
            <a:rect l="l" t="t" r="r" b="b"/>
            <a:pathLst>
              <a:path w="3242377" h="3340235">
                <a:moveTo>
                  <a:pt x="0" y="0"/>
                </a:moveTo>
                <a:lnTo>
                  <a:pt x="3242377" y="0"/>
                </a:lnTo>
                <a:lnTo>
                  <a:pt x="3242377" y="3340235"/>
                </a:lnTo>
                <a:lnTo>
                  <a:pt x="0" y="33402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356348" y="3178001"/>
            <a:ext cx="5422220" cy="2595920"/>
          </a:xfrm>
          <a:custGeom>
            <a:avLst/>
            <a:gdLst/>
            <a:ahLst/>
            <a:cxnLst/>
            <a:rect l="l" t="t" r="r" b="b"/>
            <a:pathLst>
              <a:path w="5422220" h="2595920">
                <a:moveTo>
                  <a:pt x="0" y="0"/>
                </a:moveTo>
                <a:lnTo>
                  <a:pt x="5422219" y="0"/>
                </a:lnTo>
                <a:lnTo>
                  <a:pt x="5422219" y="2595920"/>
                </a:lnTo>
                <a:lnTo>
                  <a:pt x="0" y="2595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402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04875"/>
            <a:ext cx="9608985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Angle of attack of airfoil and wing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733031"/>
            <a:ext cx="4156591" cy="306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AoA of airfoil matched = 2.50 </a:t>
            </a: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</a:p>
          <a:p>
            <a:pPr algn="l">
              <a:lnSpc>
                <a:spcPts val="3492"/>
              </a:lnSpc>
            </a:pPr>
            <a:endParaRPr lang="en-US" sz="249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 2.50 0</a:t>
            </a:r>
          </a:p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   = 0.8710</a:t>
            </a:r>
          </a:p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  = 0.00731</a:t>
            </a:r>
          </a:p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Cl/Cd = 119.15</a:t>
            </a:r>
          </a:p>
          <a:p>
            <a:pPr algn="l">
              <a:lnSpc>
                <a:spcPts val="3492"/>
              </a:lnSpc>
              <a:spcBef>
                <a:spcPct val="0"/>
              </a:spcBef>
            </a:pPr>
            <a:r>
              <a:rPr lang="en-US" sz="249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Generated Lift (L)  = 2701.27 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4460" y="2274792"/>
            <a:ext cx="4818605" cy="91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Infinite wing (2D aerofoil) lift curve slope, 𝑎0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14460" y="4652632"/>
            <a:ext cx="4818605" cy="91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IFinite wing lift curve slope; 𝑎 :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  <a:endParaRPr lang="en-US" sz="2598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37641" y="8859805"/>
            <a:ext cx="4970264" cy="45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Zero-Lift Alpha (alpha0): -5.80 deg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23741" y="2274792"/>
            <a:ext cx="1742003" cy="45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AoA of wing</a:t>
            </a:r>
          </a:p>
        </p:txBody>
      </p:sp>
      <p:sp>
        <p:nvSpPr>
          <p:cNvPr id="14" name="AutoShape 14"/>
          <p:cNvSpPr/>
          <p:nvPr/>
        </p:nvSpPr>
        <p:spPr>
          <a:xfrm flipV="1">
            <a:off x="5720898" y="2341467"/>
            <a:ext cx="0" cy="74523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flipV="1">
            <a:off x="11965823" y="2341467"/>
            <a:ext cx="0" cy="74523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2629" y="1769815"/>
            <a:ext cx="12115466" cy="8089136"/>
            <a:chOff x="0" y="0"/>
            <a:chExt cx="121736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7367" cy="812800"/>
            </a:xfrm>
            <a:custGeom>
              <a:avLst/>
              <a:gdLst/>
              <a:ahLst/>
              <a:cxnLst/>
              <a:rect l="l" t="t" r="r" b="b"/>
              <a:pathLst>
                <a:path w="1217367" h="812800">
                  <a:moveTo>
                    <a:pt x="0" y="0"/>
                  </a:moveTo>
                  <a:lnTo>
                    <a:pt x="1217367" y="0"/>
                  </a:lnTo>
                  <a:lnTo>
                    <a:pt x="121736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t="-1090" b="-109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933450"/>
            <a:ext cx="3048476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XFLR 5..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6323" y="3695700"/>
            <a:ext cx="6564749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8"/>
              </a:lnSpc>
              <a:spcBef>
                <a:spcPct val="0"/>
              </a:spcBef>
            </a:pPr>
            <a:r>
              <a:rPr lang="en-US" sz="359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Angle of  attack of wing =5 deg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5519" y="2996529"/>
            <a:ext cx="9310919" cy="7086709"/>
            <a:chOff x="0" y="0"/>
            <a:chExt cx="10679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7903" cy="812800"/>
            </a:xfrm>
            <a:custGeom>
              <a:avLst/>
              <a:gdLst/>
              <a:ahLst/>
              <a:cxnLst/>
              <a:rect l="l" t="t" r="r" b="b"/>
              <a:pathLst>
                <a:path w="1067903" h="812800">
                  <a:moveTo>
                    <a:pt x="0" y="0"/>
                  </a:moveTo>
                  <a:lnTo>
                    <a:pt x="1067903" y="0"/>
                  </a:lnTo>
                  <a:lnTo>
                    <a:pt x="106790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60" r="-7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648334" y="2963345"/>
            <a:ext cx="7563465" cy="6828355"/>
            <a:chOff x="0" y="0"/>
            <a:chExt cx="112126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1265" cy="812800"/>
            </a:xfrm>
            <a:custGeom>
              <a:avLst/>
              <a:gdLst/>
              <a:ahLst/>
              <a:cxnLst/>
              <a:rect l="l" t="t" r="r" b="b"/>
              <a:pathLst>
                <a:path w="1121265" h="812800">
                  <a:moveTo>
                    <a:pt x="0" y="0"/>
                  </a:moveTo>
                  <a:lnTo>
                    <a:pt x="1121265" y="0"/>
                  </a:lnTo>
                  <a:lnTo>
                    <a:pt x="112126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2062" b="-20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904875"/>
            <a:ext cx="3099197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Taper Ratio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5519" y="2049110"/>
            <a:ext cx="771239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Prandtl’s Lifting-Line Theory (LLT)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2728" y="1663235"/>
            <a:ext cx="11330390" cy="8623765"/>
            <a:chOff x="0" y="0"/>
            <a:chExt cx="1067903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7903" cy="812800"/>
            </a:xfrm>
            <a:custGeom>
              <a:avLst/>
              <a:gdLst/>
              <a:ahLst/>
              <a:cxnLst/>
              <a:rect l="l" t="t" r="r" b="b"/>
              <a:pathLst>
                <a:path w="1067903" h="812800">
                  <a:moveTo>
                    <a:pt x="0" y="0"/>
                  </a:moveTo>
                  <a:lnTo>
                    <a:pt x="1067903" y="0"/>
                  </a:lnTo>
                  <a:lnTo>
                    <a:pt x="1067903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5781" r="-578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933450"/>
            <a:ext cx="10150809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After adding the taper to the wing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299648"/>
            <a:ext cx="4549045" cy="2478333"/>
          </a:xfrm>
          <a:custGeom>
            <a:avLst/>
            <a:gdLst/>
            <a:ahLst/>
            <a:cxnLst/>
            <a:rect l="l" t="t" r="r" b="b"/>
            <a:pathLst>
              <a:path w="4549045" h="2478333">
                <a:moveTo>
                  <a:pt x="0" y="0"/>
                </a:moveTo>
                <a:lnTo>
                  <a:pt x="4549045" y="0"/>
                </a:lnTo>
                <a:lnTo>
                  <a:pt x="4549045" y="2478333"/>
                </a:lnTo>
                <a:lnTo>
                  <a:pt x="0" y="24783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6863706"/>
            <a:ext cx="4327818" cy="2519347"/>
          </a:xfrm>
          <a:custGeom>
            <a:avLst/>
            <a:gdLst/>
            <a:ahLst/>
            <a:cxnLst/>
            <a:rect l="l" t="t" r="r" b="b"/>
            <a:pathLst>
              <a:path w="4327818" h="2519347">
                <a:moveTo>
                  <a:pt x="0" y="0"/>
                </a:moveTo>
                <a:lnTo>
                  <a:pt x="4327818" y="0"/>
                </a:lnTo>
                <a:lnTo>
                  <a:pt x="4327818" y="2519347"/>
                </a:lnTo>
                <a:lnTo>
                  <a:pt x="0" y="2519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842669" y="8951676"/>
            <a:ext cx="2267560" cy="431377"/>
            <a:chOff x="0" y="0"/>
            <a:chExt cx="597218" cy="1136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7218" cy="113614"/>
            </a:xfrm>
            <a:custGeom>
              <a:avLst/>
              <a:gdLst/>
              <a:ahLst/>
              <a:cxnLst/>
              <a:rect l="l" t="t" r="r" b="b"/>
              <a:pathLst>
                <a:path w="597218" h="113614">
                  <a:moveTo>
                    <a:pt x="0" y="0"/>
                  </a:moveTo>
                  <a:lnTo>
                    <a:pt x="597218" y="0"/>
                  </a:lnTo>
                  <a:lnTo>
                    <a:pt x="597218" y="113614"/>
                  </a:lnTo>
                  <a:lnTo>
                    <a:pt x="0" y="113614"/>
                  </a:lnTo>
                  <a:close/>
                </a:path>
              </a:pathLst>
            </a:custGeom>
            <a:ln w="38100" cap="sq">
              <a:solidFill>
                <a:srgbClr val="FF3131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597218" cy="180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8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H="1">
            <a:off x="4110229" y="9167364"/>
            <a:ext cx="1582248" cy="0"/>
          </a:xfrm>
          <a:prstGeom prst="line">
            <a:avLst/>
          </a:prstGeom>
          <a:ln w="3810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558047" y="1754505"/>
            <a:ext cx="4457726" cy="8350713"/>
            <a:chOff x="0" y="0"/>
            <a:chExt cx="5943634" cy="111342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43634" cy="5426796"/>
            </a:xfrm>
            <a:custGeom>
              <a:avLst/>
              <a:gdLst/>
              <a:ahLst/>
              <a:cxnLst/>
              <a:rect l="l" t="t" r="r" b="b"/>
              <a:pathLst>
                <a:path w="5943634" h="5426796">
                  <a:moveTo>
                    <a:pt x="0" y="0"/>
                  </a:moveTo>
                  <a:lnTo>
                    <a:pt x="5943634" y="0"/>
                  </a:lnTo>
                  <a:lnTo>
                    <a:pt x="5943634" y="5426796"/>
                  </a:lnTo>
                  <a:lnTo>
                    <a:pt x="0" y="5426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5481101"/>
              <a:ext cx="5943634" cy="5653183"/>
            </a:xfrm>
            <a:custGeom>
              <a:avLst/>
              <a:gdLst/>
              <a:ahLst/>
              <a:cxnLst/>
              <a:rect l="l" t="t" r="r" b="b"/>
              <a:pathLst>
                <a:path w="5943634" h="5653183">
                  <a:moveTo>
                    <a:pt x="0" y="0"/>
                  </a:moveTo>
                  <a:lnTo>
                    <a:pt x="5943634" y="0"/>
                  </a:lnTo>
                  <a:lnTo>
                    <a:pt x="5943634" y="5653182"/>
                  </a:lnTo>
                  <a:lnTo>
                    <a:pt x="0" y="565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644423" y="1754505"/>
            <a:ext cx="5389402" cy="1802930"/>
          </a:xfrm>
          <a:custGeom>
            <a:avLst/>
            <a:gdLst/>
            <a:ahLst/>
            <a:cxnLst/>
            <a:rect l="l" t="t" r="r" b="b"/>
            <a:pathLst>
              <a:path w="5389402" h="1802930">
                <a:moveTo>
                  <a:pt x="0" y="0"/>
                </a:moveTo>
                <a:lnTo>
                  <a:pt x="5389402" y="0"/>
                </a:lnTo>
                <a:lnTo>
                  <a:pt x="5389402" y="1802930"/>
                </a:lnTo>
                <a:lnTo>
                  <a:pt x="0" y="1802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flipH="1" flipV="1">
            <a:off x="7244149" y="1754505"/>
            <a:ext cx="0" cy="83507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flipV="1">
            <a:off x="12330098" y="1754505"/>
            <a:ext cx="0" cy="83507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028700" y="904875"/>
            <a:ext cx="7946580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Taill  design calculations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2079002"/>
            <a:ext cx="4960016" cy="1829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Wing Area = 9.375 m2</a:t>
            </a:r>
          </a:p>
          <a:p>
            <a:pPr algn="l">
              <a:lnSpc>
                <a:spcPts val="3638"/>
              </a:lnSpc>
            </a:pPr>
            <a:r>
              <a:rPr lang="en-US" sz="259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 (required) = 0.8699</a:t>
            </a:r>
          </a:p>
          <a:p>
            <a:pPr algn="l">
              <a:lnSpc>
                <a:spcPts val="3638"/>
              </a:lnSpc>
            </a:pPr>
            <a:r>
              <a:rPr lang="en-US" sz="259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tail volume = VH = 0.6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  <a:endParaRPr lang="en-US" sz="259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692477" y="8885001"/>
            <a:ext cx="1237774" cy="457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Tail area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0808" y="3841788"/>
            <a:ext cx="3384989" cy="424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spcBef>
                <a:spcPct val="0"/>
              </a:spcBef>
            </a:pPr>
            <a:r>
              <a:rPr lang="en-US" sz="259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Optimum Tail arm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14307" y="3885715"/>
            <a:ext cx="4773454" cy="1372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 Aspect Ratio (AR) : 16.00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Tail Span(b): 4.5380 m</a:t>
            </a:r>
          </a:p>
          <a:p>
            <a:pPr algn="l">
              <a:lnSpc>
                <a:spcPts val="3638"/>
              </a:lnSpc>
              <a:spcBef>
                <a:spcPct val="0"/>
              </a:spcBef>
            </a:pPr>
            <a:r>
              <a:rPr lang="en-US" sz="259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Tail Chord(c): 0.2836 m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04875"/>
            <a:ext cx="11751683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Airfoil selection for tail and AoA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140951"/>
            <a:ext cx="13060427" cy="504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90"/>
              </a:lnSpc>
            </a:pP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Airfoil - NACA0012</a:t>
            </a:r>
          </a:p>
          <a:p>
            <a:pPr algn="just">
              <a:lnSpc>
                <a:spcPts val="3990"/>
              </a:lnSpc>
            </a:pPr>
            <a:endParaRPr lang="en-US" sz="28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90"/>
              </a:lnSpc>
            </a:pP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Similarly as for the wing using polar values:</a:t>
            </a:r>
          </a:p>
          <a:p>
            <a:pPr algn="just">
              <a:lnSpc>
                <a:spcPts val="3990"/>
              </a:lnSpc>
            </a:pPr>
            <a:endParaRPr lang="en-US" sz="28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90"/>
              </a:lnSpc>
            </a:pP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</a:t>
            </a:r>
            <a:r>
              <a:rPr lang="en-US" sz="28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AoA</a:t>
            </a: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airfoil  : -2.793°</a:t>
            </a:r>
          </a:p>
          <a:p>
            <a:pPr algn="just">
              <a:lnSpc>
                <a:spcPts val="3990"/>
              </a:lnSpc>
            </a:pP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Infinite wing (2D </a:t>
            </a:r>
            <a:r>
              <a:rPr lang="en-US" sz="28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aerofoil</a:t>
            </a: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lift curve slope, 𝑎0  : 6.9828 /rad  (0.1219 /degree)</a:t>
            </a:r>
          </a:p>
          <a:p>
            <a:pPr algn="just">
              <a:lnSpc>
                <a:spcPts val="3990"/>
              </a:lnSpc>
            </a:pPr>
            <a:r>
              <a:rPr lang="en-US" sz="28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IFinite</a:t>
            </a:r>
            <a:r>
              <a:rPr lang="en-US" sz="28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wing lift curve slope; 𝑎 :   : 6.1310 /rad(0.1070 /deg)</a:t>
            </a:r>
          </a:p>
          <a:p>
            <a:pPr algn="just">
              <a:lnSpc>
                <a:spcPts val="3990"/>
              </a:lnSpc>
            </a:pPr>
            <a:endParaRPr lang="en-US" sz="28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90"/>
              </a:lnSpc>
            </a:pPr>
            <a:r>
              <a:rPr lang="en-US" sz="285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AOA of Tail  = -2.9269 deg</a:t>
            </a:r>
          </a:p>
          <a:p>
            <a:pPr algn="just">
              <a:lnSpc>
                <a:spcPts val="3990"/>
              </a:lnSpc>
              <a:spcBef>
                <a:spcPct val="0"/>
              </a:spcBef>
            </a:pPr>
            <a:endParaRPr lang="en-US" sz="285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7558913" y="6741029"/>
            <a:ext cx="9966412" cy="2209254"/>
          </a:xfrm>
          <a:custGeom>
            <a:avLst/>
            <a:gdLst/>
            <a:ahLst/>
            <a:cxnLst/>
            <a:rect l="l" t="t" r="r" b="b"/>
            <a:pathLst>
              <a:path w="9966412" h="2209254">
                <a:moveTo>
                  <a:pt x="0" y="0"/>
                </a:moveTo>
                <a:lnTo>
                  <a:pt x="9966412" y="0"/>
                </a:lnTo>
                <a:lnTo>
                  <a:pt x="9966412" y="2209254"/>
                </a:lnTo>
                <a:lnTo>
                  <a:pt x="0" y="2209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8367" y="1507150"/>
            <a:ext cx="12821368" cy="8779850"/>
          </a:xfrm>
          <a:custGeom>
            <a:avLst/>
            <a:gdLst/>
            <a:ahLst/>
            <a:cxnLst/>
            <a:rect l="l" t="t" r="r" b="b"/>
            <a:pathLst>
              <a:path w="12821368" h="8779850">
                <a:moveTo>
                  <a:pt x="0" y="0"/>
                </a:moveTo>
                <a:lnTo>
                  <a:pt x="12821367" y="0"/>
                </a:lnTo>
                <a:lnTo>
                  <a:pt x="12821367" y="8779850"/>
                </a:lnTo>
                <a:lnTo>
                  <a:pt x="0" y="877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636289" y="6363572"/>
            <a:ext cx="7651711" cy="3923428"/>
          </a:xfrm>
          <a:custGeom>
            <a:avLst/>
            <a:gdLst/>
            <a:ahLst/>
            <a:cxnLst/>
            <a:rect l="l" t="t" r="r" b="b"/>
            <a:pathLst>
              <a:path w="7651711" h="3923428">
                <a:moveTo>
                  <a:pt x="0" y="0"/>
                </a:moveTo>
                <a:lnTo>
                  <a:pt x="7651711" y="0"/>
                </a:lnTo>
                <a:lnTo>
                  <a:pt x="7651711" y="3923428"/>
                </a:lnTo>
                <a:lnTo>
                  <a:pt x="0" y="39234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338367" y="660083"/>
            <a:ext cx="6045637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XFLR 5 model of wing and tail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853" y="0"/>
            <a:ext cx="15032294" cy="10287000"/>
          </a:xfrm>
          <a:custGeom>
            <a:avLst/>
            <a:gdLst/>
            <a:ahLst/>
            <a:cxnLst/>
            <a:rect l="l" t="t" r="r" b="b"/>
            <a:pathLst>
              <a:path w="15032294" h="10287000">
                <a:moveTo>
                  <a:pt x="0" y="0"/>
                </a:moveTo>
                <a:lnTo>
                  <a:pt x="15032294" y="0"/>
                </a:lnTo>
                <a:lnTo>
                  <a:pt x="150322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C9CD70-62EC-BBD4-B878-9AC5C38A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BC38EAA-B8EE-4A24-04BD-CE2FAF88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"/>
            <a:ext cx="9391960" cy="10286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ED7160-88CF-5404-C2ED-5DB3A2BDBC77}"/>
              </a:ext>
            </a:extLst>
          </p:cNvPr>
          <p:cNvSpPr txBox="1"/>
          <p:nvPr/>
        </p:nvSpPr>
        <p:spPr>
          <a:xfrm>
            <a:off x="11049000" y="1638300"/>
            <a:ext cx="65531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CM vs alpha curve which is the resultant of the wing and the tail has the trim angle less a than 1 degree. Therefore , can consider as almost zero</a:t>
            </a:r>
          </a:p>
        </p:txBody>
      </p:sp>
    </p:spTree>
    <p:extLst>
      <p:ext uri="{BB962C8B-B14F-4D97-AF65-F5344CB8AC3E}">
        <p14:creationId xmlns:p14="http://schemas.microsoft.com/office/powerpoint/2010/main" val="2150017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3149405"/>
            <a:ext cx="10287000" cy="16585809"/>
          </a:xfrm>
          <a:custGeom>
            <a:avLst/>
            <a:gdLst/>
            <a:ahLst/>
            <a:cxnLst/>
            <a:rect l="l" t="t" r="r" b="b"/>
            <a:pathLst>
              <a:path w="10287000" h="16585809">
                <a:moveTo>
                  <a:pt x="0" y="0"/>
                </a:moveTo>
                <a:lnTo>
                  <a:pt x="10287000" y="0"/>
                </a:lnTo>
                <a:lnTo>
                  <a:pt x="10287000" y="16585810"/>
                </a:lnTo>
                <a:lnTo>
                  <a:pt x="0" y="16585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16295" y="6505349"/>
            <a:ext cx="7034302" cy="3394051"/>
          </a:xfrm>
          <a:custGeom>
            <a:avLst/>
            <a:gdLst/>
            <a:ahLst/>
            <a:cxnLst/>
            <a:rect l="l" t="t" r="r" b="b"/>
            <a:pathLst>
              <a:path w="7034302" h="3394051">
                <a:moveTo>
                  <a:pt x="0" y="0"/>
                </a:moveTo>
                <a:lnTo>
                  <a:pt x="7034302" y="0"/>
                </a:lnTo>
                <a:lnTo>
                  <a:pt x="7034302" y="3394051"/>
                </a:lnTo>
                <a:lnTo>
                  <a:pt x="0" y="33940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904875"/>
            <a:ext cx="6057900" cy="7886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Fuselage Selection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289645"/>
            <a:ext cx="10282179" cy="166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sailplanes the CD0  vary in a range of : 0.012 - 0.95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Choosed</a:t>
            </a: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 </a:t>
            </a:r>
            <a:r>
              <a:rPr lang="en-US" sz="2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arbitatry</a:t>
            </a: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value of CD0 = 0.2200</a:t>
            </a:r>
          </a:p>
          <a:p>
            <a:pPr marL="604519" lvl="1" indent="-302260" algn="l">
              <a:lnSpc>
                <a:spcPts val="4479"/>
              </a:lnSpc>
              <a:buFont typeface="Arial"/>
              <a:buChar char="•"/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Wing Profile Drag (CD0_wing)              = 0.0120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6295" y="4275864"/>
            <a:ext cx="8974347" cy="222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equation </a:t>
            </a:r>
          </a:p>
          <a:p>
            <a:pPr algn="just">
              <a:lnSpc>
                <a:spcPts val="447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CD = CD0 + </a:t>
            </a:r>
            <a:r>
              <a:rPr lang="en-US" sz="2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CDi</a:t>
            </a:r>
            <a:endParaRPr lang="en-US" sz="27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grad polar curve of aircraft is being plotted around the CL value generated.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06487" y="2170204"/>
            <a:ext cx="7381513" cy="222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CL = 0.8944,</a:t>
            </a:r>
          </a:p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Induced Drag (</a:t>
            </a:r>
            <a:r>
              <a:rPr lang="en-US" sz="27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CDi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                  : 0.011878</a:t>
            </a:r>
          </a:p>
          <a:p>
            <a:pPr algn="l">
              <a:lnSpc>
                <a:spcPts val="4479"/>
              </a:lnSpc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Drag (</a:t>
            </a:r>
            <a:r>
              <a:rPr lang="en-US" sz="27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CD_total</a:t>
            </a: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               : 0.231878</a:t>
            </a:r>
          </a:p>
          <a:p>
            <a:pPr algn="l">
              <a:lnSpc>
                <a:spcPts val="4479"/>
              </a:lnSpc>
            </a:pP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Fuselage Profile Drag (</a:t>
            </a:r>
            <a:r>
              <a:rPr lang="en-US" sz="2799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CD_fuselage</a:t>
            </a:r>
            <a:r>
              <a:rPr lang="en-US" sz="27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)      : 0.208000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06487" y="5366794"/>
            <a:ext cx="6680097" cy="169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>
                <a:solidFill>
                  <a:srgbClr val="1800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 have choose a fuselage shape that has this amount of profile drag coeffcient or less than that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34612" y="2007784"/>
            <a:ext cx="6270472" cy="8151614"/>
          </a:xfrm>
          <a:custGeom>
            <a:avLst/>
            <a:gdLst/>
            <a:ahLst/>
            <a:cxnLst/>
            <a:rect l="l" t="t" r="r" b="b"/>
            <a:pathLst>
              <a:path w="6270472" h="8151614">
                <a:moveTo>
                  <a:pt x="0" y="0"/>
                </a:moveTo>
                <a:lnTo>
                  <a:pt x="6270472" y="0"/>
                </a:lnTo>
                <a:lnTo>
                  <a:pt x="6270472" y="8151614"/>
                </a:lnTo>
                <a:lnTo>
                  <a:pt x="0" y="8151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H="1" flipV="1">
            <a:off x="6881570" y="2798495"/>
            <a:ext cx="3883365" cy="0"/>
          </a:xfrm>
          <a:prstGeom prst="line">
            <a:avLst/>
          </a:prstGeom>
          <a:ln w="171450" cap="flat">
            <a:solidFill>
              <a:srgbClr val="FF3131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335153" y="4481992"/>
            <a:ext cx="10489239" cy="1942452"/>
          </a:xfrm>
          <a:custGeom>
            <a:avLst/>
            <a:gdLst/>
            <a:ahLst/>
            <a:cxnLst/>
            <a:rect l="l" t="t" r="r" b="b"/>
            <a:pathLst>
              <a:path w="10489239" h="1942452">
                <a:moveTo>
                  <a:pt x="0" y="0"/>
                </a:moveTo>
                <a:lnTo>
                  <a:pt x="10489239" y="0"/>
                </a:lnTo>
                <a:lnTo>
                  <a:pt x="10489239" y="1942452"/>
                </a:lnTo>
                <a:lnTo>
                  <a:pt x="0" y="194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834612" y="904875"/>
            <a:ext cx="16989779" cy="8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fuselage shapes and relevant profile drag coefficient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35153" y="6338719"/>
            <a:ext cx="1048923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fuselage shape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DD5BA5-0ADA-6575-3F5A-FD94FF4359CC}"/>
              </a:ext>
            </a:extLst>
          </p:cNvPr>
          <p:cNvSpPr txBox="1"/>
          <p:nvPr/>
        </p:nvSpPr>
        <p:spPr>
          <a:xfrm>
            <a:off x="7335153" y="8761866"/>
            <a:ext cx="10747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[1] A. Singh, “Designing Procedure for Micro-Class Remote Controlled Fixed Wing VTOL,” </a:t>
            </a:r>
            <a:r>
              <a:rPr lang="en-US" i="1" dirty="0"/>
              <a:t>International Journal of Engineering Science and Computing (IJESC)</a:t>
            </a:r>
            <a:r>
              <a:rPr lang="en-US" dirty="0"/>
              <a:t>, vol. 9, no. 9, 2019.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34C13-5D8E-524E-865F-BD891A0F3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D8B719F-BBF8-FECF-CF81-D9ADA2D71092}"/>
              </a:ext>
            </a:extLst>
          </p:cNvPr>
          <p:cNvSpPr txBox="1"/>
          <p:nvPr/>
        </p:nvSpPr>
        <p:spPr>
          <a:xfrm>
            <a:off x="834612" y="904875"/>
            <a:ext cx="16989779" cy="78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857F5-E53E-EE5D-5A24-B49AE083BD25}"/>
              </a:ext>
            </a:extLst>
          </p:cNvPr>
          <p:cNvSpPr txBox="1"/>
          <p:nvPr/>
        </p:nvSpPr>
        <p:spPr>
          <a:xfrm>
            <a:off x="819863" y="2208812"/>
            <a:ext cx="152435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A. Singh, “Designing Procedure for Micro-Class Remote Controlled Fixed Wing VTOL,”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Science and Computing (IJESC)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9, 2019.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12313-22CA-EAFD-6285-943E400FF540}"/>
              </a:ext>
            </a:extLst>
          </p:cNvPr>
          <p:cNvSpPr txBox="1"/>
          <p:nvPr/>
        </p:nvSpPr>
        <p:spPr>
          <a:xfrm>
            <a:off x="819863" y="3555070"/>
            <a:ext cx="14926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Flight Manual for Self-Launching Sailplane PIK-20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approved by the National Board of Aviation, Finland.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91A28A-D6F5-BD52-82D6-4250D1806929}"/>
              </a:ext>
            </a:extLst>
          </p:cNvPr>
          <p:cNvSpPr txBox="1"/>
          <p:nvPr/>
        </p:nvSpPr>
        <p:spPr>
          <a:xfrm>
            <a:off x="807573" y="4370206"/>
            <a:ext cx="149387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Soaring Society of America, “Self-Launching Sport Sailplane Design Competition Award,” award certificate presented to H. Van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Neermeulen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Virginia Polytechnic Institute and State University, Second Place, 1981–1982.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3AE178-169A-CC71-1920-C75B2F4B65DE}"/>
              </a:ext>
            </a:extLst>
          </p:cNvPr>
          <p:cNvSpPr txBox="1"/>
          <p:nvPr/>
        </p:nvSpPr>
        <p:spPr>
          <a:xfrm>
            <a:off x="819863" y="5547300"/>
            <a:ext cx="152435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M. H.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Sadraey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Design: A Systems Engineering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Hoboken, NJ, USA: John Wiley &amp; Sons, 2012.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1D14BFC-5E3C-2000-AF5E-E6C7C5642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60" y="6524226"/>
            <a:ext cx="3124200" cy="347836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050352-8B25-B55D-AA58-6375D807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6525965"/>
            <a:ext cx="2438400" cy="366756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5BDB45E-2711-7E6B-5C86-DD20DD9D6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640" y="6591472"/>
            <a:ext cx="2865309" cy="353655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4764898-2D91-CA74-F485-70EE63E16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1" y="6509109"/>
            <a:ext cx="2590800" cy="358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66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3D5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F932E-64C0-3A6F-3B22-3B4036B2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B9A473D-A79F-A849-3D2E-DC9A5FA18207}"/>
              </a:ext>
            </a:extLst>
          </p:cNvPr>
          <p:cNvSpPr txBox="1"/>
          <p:nvPr/>
        </p:nvSpPr>
        <p:spPr>
          <a:xfrm>
            <a:off x="5141707" y="4713094"/>
            <a:ext cx="8004587" cy="860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7795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710</Words>
  <Application>Microsoft Office PowerPoint</Application>
  <PresentationFormat>Custom</PresentationFormat>
  <Paragraphs>122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Canva Sans</vt:lpstr>
      <vt:lpstr>Times New Roman Bold</vt:lpstr>
      <vt:lpstr>Arial</vt:lpstr>
      <vt:lpstr>Times New Roman</vt:lpstr>
      <vt:lpstr>Calibri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 sailplane with a semi-monocoque wing</dc:title>
  <cp:lastModifiedBy>Laksha Unduli</cp:lastModifiedBy>
  <cp:revision>8</cp:revision>
  <dcterms:created xsi:type="dcterms:W3CDTF">2006-08-16T00:00:00Z</dcterms:created>
  <dcterms:modified xsi:type="dcterms:W3CDTF">2026-07-22T07:50:57Z</dcterms:modified>
  <dc:identifier>DAHQEHiiUcs</dc:identifier>
</cp:coreProperties>
</file>